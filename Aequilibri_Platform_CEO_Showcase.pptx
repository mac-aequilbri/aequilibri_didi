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96112"/>
          </a:xfrm>
          <a:prstGeom prst="rect">
            <a:avLst/>
          </a:prstGeom>
          <a:solidFill>
            <a:srgbClr val="1F2A2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E3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æ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quilibri AI Intelligence Platform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FE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Capability Showcase</a:t>
            </a:r>
            <a:pPr indent="0" marL="0">
              <a:buNone/>
            </a:pPr>
            <a:r>
              <a:rPr lang="en-US" sz="115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 AI use cases on one shared platform core   ·   Client: Port City Roofing + construction SMEs   ·   Engagement Wk 6 of 12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012680" y="201168"/>
            <a:ext cx="1828800" cy="493776"/>
          </a:xfrm>
          <a:prstGeom prst="roundRect">
            <a:avLst>
              <a:gd name="adj" fmla="val 14815"/>
            </a:avLst>
          </a:prstGeom>
          <a:solidFill>
            <a:srgbClr val="2C3A3E"/>
          </a:solidFill>
          <a:ln w="12700">
            <a:solidFill>
              <a:srgbClr val="4456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696" y="3108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69880" y="20116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Wk 6 / 12</a:t>
            </a:r>
            <a:pPr algn="l" indent="0" marL="0">
              <a:buNone/>
            </a:pPr>
            <a:r>
              <a:rPr lang="en-US" sz="1000" dirty="0">
                <a:solidFill>
                  <a:srgbClr val="9FB3AB"/>
                </a:solidFill>
              </a:rPr>
              <a:t>  delivery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1005840"/>
            <a:ext cx="2743200" cy="74980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005840"/>
            <a:ext cx="64008" cy="749808"/>
          </a:xfrm>
          <a:prstGeom prst="rect">
            <a:avLst/>
          </a:prstGeom>
          <a:solidFill>
            <a:srgbClr val="2E7D44"/>
          </a:solidFill>
          <a:ln/>
        </p:spPr>
      </p:sp>
      <p:sp>
        <p:nvSpPr>
          <p:cNvPr id="10" name="Text 7"/>
          <p:cNvSpPr/>
          <p:nvPr/>
        </p:nvSpPr>
        <p:spPr>
          <a:xfrm>
            <a:off x="484632" y="1042416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7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783080" y="1042416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27"/>
                </a:solidFill>
              </a:rPr>
              <a:t>AI use cases live</a:t>
            </a:r>
            <a:endParaRPr lang="en-US" sz="10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670"/>
                </a:solidFill>
              </a:rPr>
              <a:t>UC1 · UC2 · UC3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743200" cy="74980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64008" cy="74980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3410712" y="1042416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709160" y="1042416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27"/>
                </a:solidFill>
              </a:rPr>
              <a:t>Roofing quotes proven</a:t>
            </a:r>
            <a:endParaRPr lang="en-US" sz="10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670"/>
                </a:solidFill>
              </a:rPr>
              <a:t>AI-verified, end-to-end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1005840"/>
            <a:ext cx="2743200" cy="74980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1005840"/>
            <a:ext cx="64008" cy="749808"/>
          </a:xfrm>
          <a:prstGeom prst="rect">
            <a:avLst/>
          </a:prstGeom>
          <a:solidFill>
            <a:srgbClr val="C97A1E"/>
          </a:solidFill>
          <a:ln/>
        </p:spPr>
      </p:sp>
      <p:sp>
        <p:nvSpPr>
          <p:cNvPr id="18" name="Text 15"/>
          <p:cNvSpPr/>
          <p:nvPr/>
        </p:nvSpPr>
        <p:spPr>
          <a:xfrm>
            <a:off x="6336792" y="1042416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7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635240" y="1042416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27"/>
                </a:solidFill>
              </a:rPr>
              <a:t>Confidence to auto-apply</a:t>
            </a:r>
            <a:endParaRPr lang="en-US" sz="10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670"/>
                </a:solidFill>
              </a:rPr>
              <a:t>self-learned pricing rules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098280" y="1005840"/>
            <a:ext cx="2743200" cy="74980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098280" y="1005840"/>
            <a:ext cx="64008" cy="749808"/>
          </a:xfrm>
          <a:prstGeom prst="rect">
            <a:avLst/>
          </a:prstGeom>
          <a:solidFill>
            <a:srgbClr val="B4452F"/>
          </a:solidFill>
          <a:ln/>
        </p:spPr>
      </p:sp>
      <p:sp>
        <p:nvSpPr>
          <p:cNvPr id="22" name="Text 19"/>
          <p:cNvSpPr/>
          <p:nvPr/>
        </p:nvSpPr>
        <p:spPr>
          <a:xfrm>
            <a:off x="9262872" y="1042416"/>
            <a:ext cx="1325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445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→ 1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10561320" y="1042416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27"/>
                </a:solidFill>
              </a:rPr>
              <a:t>Forks → one shared core</a:t>
            </a:r>
            <a:endParaRPr lang="en-US" sz="10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6B7670"/>
                </a:solidFill>
              </a:rPr>
              <a:t>the strategic prize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" y="1865376"/>
            <a:ext cx="371859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0040" y="1865376"/>
            <a:ext cx="3718590" cy="310896"/>
          </a:xfrm>
          <a:prstGeom prst="rect">
            <a:avLst/>
          </a:prstGeom>
          <a:solidFill>
            <a:srgbClr val="2E7D44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933956"/>
            <a:ext cx="173736" cy="1737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7512" y="1865376"/>
            <a:ext cx="23927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UC1  </a:t>
            </a:r>
            <a:pPr indent="0" marL="0">
              <a:buNone/>
            </a:pPr>
            <a:r>
              <a:rPr lang="en-US" sz="1050" b="1" dirty="0">
                <a:solidFill>
                  <a:srgbClr val="DCEFE3"/>
                </a:solidFill>
              </a:rPr>
              <a:t>Roofing Estimator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124230" y="1901952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4"/>
                </a:solidFill>
              </a:rPr>
              <a:t>~80%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66344" y="2212848"/>
            <a:ext cx="34259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E7C7B"/>
                </a:solidFill>
              </a:rPr>
              <a:t>Port City Roofing · the Assessment Engine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466344" y="2450592"/>
            <a:ext cx="344427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Geoscape footprint → LiDAR + Solar → </a:t>
            </a:r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860" b="1" dirty="0">
                <a:solidFill>
                  <a:srgbClr val="1C2B27"/>
                </a:solidFill>
              </a:rPr>
              <a:t>Claude Vision 3D roof model</a:t>
            </a:r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860" dirty="0">
                <a:solidFill>
                  <a:srgbClr val="1C2B27"/>
                </a:solidFill>
              </a:rPr>
              <a:t> → deterministic pricing → PDF quote.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Home of the </a:t>
            </a:r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860" b="1" dirty="0">
                <a:solidFill>
                  <a:srgbClr val="236236"/>
                </a:solidFill>
              </a:rPr>
              <a:t>Memory Architecture</a:t>
            </a:r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860" dirty="0">
                <a:solidFill>
                  <a:srgbClr val="1C2B27"/>
                </a:solidFill>
              </a:rPr>
              <a:t> — every human correction trains a learning rule. The moat.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Proven across 4 properties, 4 verified quotes.</a:t>
            </a:r>
            <a:endParaRPr lang="en-US" sz="860" dirty="0"/>
          </a:p>
        </p:txBody>
      </p:sp>
      <p:sp>
        <p:nvSpPr>
          <p:cNvPr id="31" name="Shape 27"/>
          <p:cNvSpPr/>
          <p:nvPr/>
        </p:nvSpPr>
        <p:spPr>
          <a:xfrm>
            <a:off x="4221510" y="1865376"/>
            <a:ext cx="371859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221510" y="1865376"/>
            <a:ext cx="3718590" cy="310896"/>
          </a:xfrm>
          <a:prstGeom prst="rect">
            <a:avLst/>
          </a:prstGeom>
          <a:solidFill>
            <a:srgbClr val="2E7D44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238" y="1933956"/>
            <a:ext cx="173736" cy="17373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568982" y="1865376"/>
            <a:ext cx="23927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UC2  </a:t>
            </a:r>
            <a:pPr indent="0" marL="0">
              <a:buNone/>
            </a:pPr>
            <a:r>
              <a:rPr lang="en-US" sz="1050" b="1" dirty="0">
                <a:solidFill>
                  <a:srgbClr val="DCEFE3"/>
                </a:solidFill>
              </a:rPr>
              <a:t>Didi — Project AI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7025701" y="1901952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4"/>
                </a:solidFill>
              </a:rPr>
              <a:t>~90%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367814" y="2212848"/>
            <a:ext cx="34259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E7C7B"/>
                </a:solidFill>
              </a:rPr>
              <a:t>Dulong Downs · long-project coordinator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4367814" y="2450592"/>
            <a:ext cx="344427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Conversational AI over a single live build: </a:t>
            </a:r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860" dirty="0">
                <a:solidFill>
                  <a:srgbClr val="1C2B27"/>
                </a:solidFill>
              </a:rPr>
              <a:t>phases, budget vs actual, cashflow, decisions, procurement.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Real Claude integration in context at every stage — not a demo stub.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The “long-project” engagement type of the platform.</a:t>
            </a:r>
            <a:endParaRPr lang="en-US" sz="860" dirty="0"/>
          </a:p>
        </p:txBody>
      </p:sp>
      <p:sp>
        <p:nvSpPr>
          <p:cNvPr id="38" name="Shape 33"/>
          <p:cNvSpPr/>
          <p:nvPr/>
        </p:nvSpPr>
        <p:spPr>
          <a:xfrm>
            <a:off x="8122981" y="1865376"/>
            <a:ext cx="371859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122981" y="1865376"/>
            <a:ext cx="3718590" cy="310896"/>
          </a:xfrm>
          <a:prstGeom prst="rect">
            <a:avLst/>
          </a:prstGeom>
          <a:solidFill>
            <a:srgbClr val="2E7D44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709" y="1933956"/>
            <a:ext cx="173736" cy="17373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470453" y="1865376"/>
            <a:ext cx="23927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UC3  </a:t>
            </a:r>
            <a:pPr indent="0" marL="0">
              <a:buNone/>
            </a:pPr>
            <a:r>
              <a:rPr lang="en-US" sz="1050" b="1" dirty="0">
                <a:solidFill>
                  <a:srgbClr val="DCEFE3"/>
                </a:solidFill>
              </a:rPr>
              <a:t>MSME Construction PM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10927171" y="1901952"/>
            <a:ext cx="82296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44"/>
                </a:solidFill>
              </a:rPr>
              <a:t>~92%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8269285" y="2212848"/>
            <a:ext cx="34259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0E7C7B"/>
                </a:solidFill>
              </a:rPr>
              <a:t>multi-tenant · project intelligence</a:t>
            </a:r>
            <a:endParaRPr lang="en-US" sz="850" dirty="0"/>
          </a:p>
        </p:txBody>
      </p:sp>
      <p:sp>
        <p:nvSpPr>
          <p:cNvPr id="44" name="Text 38"/>
          <p:cNvSpPr/>
          <p:nvPr/>
        </p:nvSpPr>
        <p:spPr>
          <a:xfrm>
            <a:off x="8269285" y="2450592"/>
            <a:ext cx="344427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Multi-tenant PM: variations, risk register, client portal, weekly AI reports, document analysis.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Ships an embedded </a:t>
            </a:r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860" b="1" dirty="0">
                <a:solidFill>
                  <a:srgbClr val="236236"/>
                </a:solidFill>
              </a:rPr>
              <a:t>BIMx 3D model viewer</a:t>
            </a:r>
            <a:pPr indent="0" marL="0">
              <a:lnSpc>
                <a:spcPct val="98000"/>
              </a:lnSpc>
              <a:spcAft>
                <a:spcPts val="400"/>
              </a:spcAft>
              <a:buNone/>
            </a:pPr>
            <a:r>
              <a:rPr lang="en-US" sz="860" dirty="0">
                <a:solidFill>
                  <a:srgbClr val="1C2B27"/>
                </a:solidFill>
              </a:rPr>
              <a:t> in the client portal.</a:t>
            </a:r>
            <a:endParaRPr lang="en-US" sz="860" dirty="0"/>
          </a:p>
          <a:p>
            <a:pPr marL="342900" indent="-342900">
              <a:lnSpc>
                <a:spcPct val="98000"/>
              </a:lnSpc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1C2B27"/>
                </a:solidFill>
              </a:rPr>
              <a:t>Most built-out reporting surface across the three.</a:t>
            </a:r>
            <a:endParaRPr lang="en-US" sz="860" dirty="0"/>
          </a:p>
        </p:txBody>
      </p:sp>
      <p:sp>
        <p:nvSpPr>
          <p:cNvPr id="45" name="Shape 39"/>
          <p:cNvSpPr/>
          <p:nvPr/>
        </p:nvSpPr>
        <p:spPr>
          <a:xfrm>
            <a:off x="320040" y="3730752"/>
            <a:ext cx="371859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320040" y="3730752"/>
            <a:ext cx="3718590" cy="310896"/>
          </a:xfrm>
          <a:prstGeom prst="rect">
            <a:avLst/>
          </a:prstGeom>
          <a:solidFill>
            <a:srgbClr val="0E7C7B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799332"/>
            <a:ext cx="173736" cy="173736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85800" y="3730752"/>
            <a:ext cx="32613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Strategic Tech Guidance We Gave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475488" y="4114800"/>
            <a:ext cx="342598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0E7C7B"/>
                </a:solidFill>
              </a:rPr>
              <a:t>No 4th silo.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Construction is a Domain Pack on shared modules — not “UC4.” Avoids the spaghetti at domain #3.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0E7C7B"/>
                </a:solidFill>
              </a:rPr>
              <a:t>One engagement-type switch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(build / maintenance / facilities) replaces forking per job type.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0E7C7B"/>
                </a:solidFill>
              </a:rPr>
              <a:t>Per-customer Airtable base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for privacy + auditability, behind a storage adapter — dev stays fast, prod has no logic divergence.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0E7C7B"/>
                </a:solidFill>
              </a:rPr>
              <a:t>BIM is the spine: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viewer now; quantity-takeoff ingestion deferred until a tendering customer funds the Graphisoft API.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4221510" y="3730752"/>
            <a:ext cx="371859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4221510" y="3730752"/>
            <a:ext cx="3718590" cy="310896"/>
          </a:xfrm>
          <a:prstGeom prst="rect">
            <a:avLst/>
          </a:prstGeom>
          <a:solidFill>
            <a:srgbClr val="B4452F"/>
          </a:solidFill>
          <a:ln/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0382" y="3799332"/>
            <a:ext cx="173736" cy="173736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4587270" y="3730752"/>
            <a:ext cx="32613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Challenges &amp; Blockers</a:t>
            </a:r>
            <a:endParaRPr lang="en-US" sz="1150" dirty="0"/>
          </a:p>
        </p:txBody>
      </p:sp>
      <p:sp>
        <p:nvSpPr>
          <p:cNvPr id="54" name="Text 46"/>
          <p:cNvSpPr/>
          <p:nvPr/>
        </p:nvSpPr>
        <p:spPr>
          <a:xfrm>
            <a:off x="4376958" y="4114800"/>
            <a:ext cx="342598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B4452F"/>
                </a:solidFill>
              </a:rPr>
              <a:t>Commercial: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UC1 paused — Port City Roofing in investor discussions. Codebase preserved, no bandwidth lost.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B4452F"/>
                </a:solidFill>
              </a:rPr>
              <a:t>Governance gate (D-1):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no auth layer yet; a write-authority decision is needed before AI can write to client systems.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B4452F"/>
                </a:solidFill>
              </a:rPr>
              <a:t>Three forks today: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separate schemas, AI logic and auth across UC1/2/3 — convergence is real work, not config.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B4452F"/>
                </a:solidFill>
              </a:rPr>
              <a:t>Write-execution gap: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“confirm/approve” records intent but does not yet mutate the record (UC2 + UC3).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B4452F"/>
                </a:solidFill>
              </a:rPr>
              <a:t>BIMx data scope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unquantified — needs Graphisoft API access.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8122981" y="3730752"/>
            <a:ext cx="371859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4"/>
            </a:solidFill>
            <a:prstDash val="solid"/>
          </a:ln>
          <a:effectLst>
            <a:outerShdw sx="100000" sy="100000" kx="0" ky="0" algn="bl" rotWithShape="0" blurRad="63500" dist="25400" dir="8100000">
              <a:srgbClr val="1C2B27">
                <a:alpha val="14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8122981" y="3730752"/>
            <a:ext cx="3718590" cy="310896"/>
          </a:xfrm>
          <a:prstGeom prst="rect">
            <a:avLst/>
          </a:prstGeom>
          <a:solidFill>
            <a:srgbClr val="C97A1E"/>
          </a:solidFill>
          <a:ln/>
        </p:spPr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1853" y="3799332"/>
            <a:ext cx="173736" cy="173736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8488741" y="3730752"/>
            <a:ext cx="32613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Key Learnings</a:t>
            </a:r>
            <a:endParaRPr lang="en-US" sz="1150" dirty="0"/>
          </a:p>
        </p:txBody>
      </p:sp>
      <p:sp>
        <p:nvSpPr>
          <p:cNvPr id="59" name="Text 50"/>
          <p:cNvSpPr/>
          <p:nvPr/>
        </p:nvSpPr>
        <p:spPr>
          <a:xfrm>
            <a:off x="8278429" y="4114800"/>
            <a:ext cx="342598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A8641A"/>
                </a:solidFill>
              </a:rPr>
              <a:t>The moat is the learning loop,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not any one use case — accuracy compounds across every job.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A8641A"/>
                </a:solidFill>
              </a:rPr>
              <a:t>Set the bar at the architecture,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not parity with the old apps — we corrected scope upward deliberately.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A8641A"/>
                </a:solidFill>
              </a:rPr>
              <a:t>“Configured → real, absent → demo”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via env vars: ship inert, activate per customer. Lowers go-live risk.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A8641A"/>
                </a:solidFill>
              </a:rPr>
              <a:t>Converge before you extend: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the Construction Pack can't be built cleanly while UC2/UC3 stay forked.</a:t>
            </a:r>
            <a:endParaRPr lang="en-US" sz="900" dirty="0"/>
          </a:p>
          <a:p>
            <a:pPr marL="342900" indent="-3429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b="1" dirty="0">
                <a:solidFill>
                  <a:srgbClr val="A8641A"/>
                </a:solidFill>
              </a:rPr>
              <a:t>Construction proves the thesis: </a:t>
            </a:r>
            <a:pPr indent="0" marL="0">
              <a:lnSpc>
                <a:spcPct val="98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1C2B27"/>
                </a:solidFill>
              </a:rPr>
              <a:t>one client traverses the whole value chain, so the compounding loop has obvious ROI.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320040" y="6547104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i="1" dirty="0">
                <a:solidFill>
                  <a:srgbClr val="2E7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 </a:t>
            </a:r>
            <a:pPr algn="l" indent="0" marL="0">
              <a:buNone/>
            </a:pPr>
            <a:r>
              <a:rPr lang="en-US" sz="950" i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 cases live and a self-learning platform proven end-to-end. The strategic prize is convergence onto </a:t>
            </a:r>
            <a:pPr algn="l" indent="0" marL="0">
              <a:buNone/>
            </a:pPr>
            <a:r>
              <a:rPr lang="en-US" sz="950" b="1" i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core</a:t>
            </a:r>
            <a:pPr algn="l" indent="0" marL="0">
              <a:buNone/>
            </a:pPr>
            <a:r>
              <a:rPr lang="en-US" sz="950" i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gated on the D-1 auth &amp; governance decision.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aequilibri AI Intelligence Platform — CEO Showcase</dc:title>
  <dc:subject>PptxGenJS Presentation</dc:subject>
  <dc:creator>aequilibri</dc:creator>
  <cp:lastModifiedBy>aequilibri</cp:lastModifiedBy>
  <cp:revision>1</cp:revision>
  <dcterms:created xsi:type="dcterms:W3CDTF">2026-06-16T01:39:35Z</dcterms:created>
  <dcterms:modified xsi:type="dcterms:W3CDTF">2026-06-16T01:39:35Z</dcterms:modified>
</cp:coreProperties>
</file>